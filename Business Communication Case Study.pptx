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1A33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B9A3A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Retirement</c:v>
                </c:pt>
                <c:pt idx="1">
                  <c:v>Resignation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413</c:v>
                </c:pt>
                <c:pt idx="1">
                  <c:v>311</c:v>
                </c:pt>
                <c:pt idx="2">
                  <c:v>98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5B1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Job dissatisfaction</c:v>
                  </c:pt>
                  <c:pt idx="1">
                    <c:v>Maternity/family</c:v>
                  </c:pt>
                  <c:pt idx="2">
                    <c:v>Relocation</c:v>
                  </c:pt>
                  <c:pt idx="3">
                    <c:v>Career move to private sector</c:v>
                  </c:pt>
                  <c:pt idx="4">
                    <c:v>Work-life balance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43</c:v>
                </c:pt>
                <c:pt idx="2">
                  <c:v>59</c:v>
                </c:pt>
                <c:pt idx="3">
                  <c:v>67</c:v>
                </c:pt>
                <c:pt idx="4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(out of 5)</c:v>
                </c:pt>
              </c:strCache>
            </c:strRef>
          </c:tx>
          <c:spPr>
            <a:solidFill>
              <a:srgbClr val="5B1A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1A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1A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1A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1A3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3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A3A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A3A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9A3A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Wellness Programs</c:v>
                  </c:pt>
                  <c:pt idx="1">
                    <c:v>Promotion Opportunities</c:v>
                  </c:pt>
                  <c:pt idx="2">
                    <c:v>Career Aspirations</c:v>
                  </c:pt>
                  <c:pt idx="3">
                    <c:v>Staff Morale</c:v>
                  </c:pt>
                  <c:pt idx="4">
                    <c:v>Professional Development</c:v>
                  </c:pt>
                  <c:pt idx="5">
                    <c:v>Skills</c:v>
                  </c:pt>
                  <c:pt idx="6">
                    <c:v>Initiative</c:v>
                  </c:pt>
                  <c:pt idx="7">
                    <c:v>Peer Support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3.22</c:v>
                </c:pt>
                <c:pt idx="1">
                  <c:v>3.35</c:v>
                </c:pt>
                <c:pt idx="2">
                  <c:v>3.38</c:v>
                </c:pt>
                <c:pt idx="3">
                  <c:v>3.39</c:v>
                </c:pt>
                <c:pt idx="4">
                  <c:v>3.83</c:v>
                </c:pt>
                <c:pt idx="5">
                  <c:v>3.84</c:v>
                </c:pt>
                <c:pt idx="6">
                  <c:v>3.99</c:v>
                </c:pt>
                <c:pt idx="7">
                  <c:v>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rgbClr val="8A2C4F">
              <a:alpha val="60000"/>
            </a:srgbClr>
          </a:solidFill>
          <a:ln w="12700">
            <a:solidFill>
              <a:srgbClr val="8A2C4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C9A227">
              <a:alpha val="30000"/>
            </a:srgbClr>
          </a:solidFill>
          <a:ln w="12700">
            <a:solidFill>
              <a:srgbClr val="C9A227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COMMUNICATION CASE STUDY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Exit Survey Analysis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B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Queensland – Department of Education, Training and Employment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Kunjeti Venkata Nanda Kumar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Cert. in Data Science &amp; AI  |  AnalytixLabs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3258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3258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3258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– largest exit category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3258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66560" y="1143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 citing work-life balance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974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 Queensland surveyed exiting employees to understand why people leave.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programs, promotion opportunities and career aspirations received comparatively low satisfaction ratings.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translated into communication-focused actions: career clarity, feedback, workload discussions, wellbeing communication and succession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Background &amp;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347472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09160" y="1097280"/>
            <a:ext cx="3977640" cy="3474720"/>
          </a:xfrm>
          <a:prstGeom prst="rect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situation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experience and support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Career-development expectations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work-life balance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for attraction and retention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needs to better understand employee exit patterns and feedback in order to identify areas for further investigation and improve workplace practices.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B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feedback informs attraction and retention initiatives.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Questions &amp;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" cy="402336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8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527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categories of exits?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402336" cy="402336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8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30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resignation reasons?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402336" cy="402336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8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34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Lowest-rated workplace factors?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402336" cy="402336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8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by tenure, age, position?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402336" cy="402336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8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management respond to feedback more effectively?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Queensland DETE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/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 / 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exit survey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Resignation, Retirement,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Position, Region, Status,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Career, dissatisfaction, work-life balance, workload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 ratings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Development, opportunities, morale,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Gender, age and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Challenge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feedback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8A2C4F"/>
          </a:solidFill>
          <a:ln w="12700">
            <a:solidFill>
              <a:srgbClr val="5B1A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097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interpretation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1097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023360" cy="566928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2768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8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945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information on career opportunities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023360" cy="566928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768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8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1945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to raise workplace concerns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4023360" cy="566928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9626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8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880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management feedback mechanisms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023360" cy="566928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626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8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880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available wellbeing support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4023360" cy="566928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364845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8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5661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 before experienced staff leave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must be communicated clearly so management can decide where to act.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Exit Categories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188720"/>
            <a:ext cx="3383280" cy="8686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40680" y="1188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188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(largest category)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03520" y="2240280"/>
            <a:ext cx="3383280" cy="8686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440680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240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3291840"/>
            <a:ext cx="3383280" cy="86868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440680" y="32918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291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 exits: 822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Resignation Reasons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188720"/>
            <a:ext cx="2560320" cy="3017520"/>
          </a:xfrm>
          <a:prstGeom prst="rect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resigning employees selected work-life balance, narrowly ahead of a career move to the private sector (67).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Workplace Satisfaction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188720"/>
            <a:ext cx="2286000" cy="301752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73736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is the strongest area (4.00).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Morale, careers and promotion sit near 3.4.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score lowest (3.22).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for Management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Work-life balance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resigning employees selected it – an area management may investigate further.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development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opportunities and career aspirations score comparatively low; clearer career-path communication is needed.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average about 3.22/5; review how they are communicated, accessed and evaluated.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Long-tenure workforce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20+ years of tenure form a substantial share of exits – knowledge transfer and succession matter.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Strategy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33856"/>
            <a:ext cx="429768" cy="429768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33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34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051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communication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515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to raise concerns and give feedback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837944"/>
            <a:ext cx="429768" cy="429768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8379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34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1755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career communication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7556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paths, promotion criteria, development, internal mobility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59436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542032"/>
            <a:ext cx="429768" cy="429768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5420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34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4597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feedback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4597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mechanisms beyond exit interviews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246120"/>
            <a:ext cx="429768" cy="429768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24612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34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16382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 communication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16382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support resources and how to access them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67912"/>
            <a:ext cx="8229600" cy="59436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950208"/>
            <a:ext cx="429768" cy="429768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9502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34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8679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transfer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386791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staff document and hand over key knowledge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32004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Development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8892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clear career paths; communicate internal mobility.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5980" y="1188720"/>
            <a:ext cx="1554480" cy="32004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8900" y="1371600"/>
            <a:ext cx="548640" cy="54864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89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221742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Work-Life Balance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35708" y="278892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workload patterns; communicate flexible-working options.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188720"/>
            <a:ext cx="1554480" cy="32004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Wellbeing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78892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communication on wellness and stress support.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63540" y="1188720"/>
            <a:ext cx="1554480" cy="32004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66460" y="1371600"/>
            <a:ext cx="548640" cy="54864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664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555498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&amp; Feedback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73268" y="278892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recognition and regular feedback mechanisms.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1188720"/>
            <a:ext cx="1554480" cy="3200400"/>
          </a:xfrm>
          <a:prstGeom prst="rect">
            <a:avLst/>
          </a:prstGeom>
          <a:solidFill>
            <a:srgbClr val="F6F1F3"/>
          </a:solidFill>
          <a:ln w="12700">
            <a:solidFill>
              <a:srgbClr val="F6F1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371600"/>
            <a:ext cx="548640" cy="548640"/>
          </a:xfrm>
          <a:prstGeom prst="ellipse">
            <a:avLst/>
          </a:prstGeom>
          <a:solidFill>
            <a:srgbClr val="5B1A33"/>
          </a:solidFill>
          <a:ln w="12700">
            <a:solidFill>
              <a:srgbClr val="5B1A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35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2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Succession Planning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42048" y="278892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knowledge-transfer and succession plans for critical roles.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Queensland DETE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118872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pathway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/ morale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Succession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Department leaders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roles with succession plans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114800" cy="4114800"/>
          </a:xfrm>
          <a:prstGeom prst="ellipse">
            <a:avLst/>
          </a:prstGeom>
          <a:solidFill>
            <a:srgbClr val="8A2C4F">
              <a:alpha val="60000"/>
            </a:srgbClr>
          </a:solidFill>
          <a:ln w="12700">
            <a:solidFill>
              <a:srgbClr val="8A2C4F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survey highlights areas for further investigation: work-life balance, career development, wellbeing, recognition and succession planning.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B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communication, regular feedback and measurable follow-up turn employee feedback into meaningful organizational action.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Exit Survey Analysis</dc:title>
  <dc:subject>PptxGenJS Presentation</dc:subject>
  <dc:creator>PptxGenJS</dc:creator>
  <cp:lastModifiedBy>PptxGenJS</cp:lastModifiedBy>
  <cp:revision>1</cp:revision>
  <dcterms:created xsi:type="dcterms:W3CDTF">2026-09-30T04:15:41Z</dcterms:created>
  <dcterms:modified xsi:type="dcterms:W3CDTF">2026-09-30T04:15:41Z</dcterms:modified>
</cp:coreProperties>
</file>