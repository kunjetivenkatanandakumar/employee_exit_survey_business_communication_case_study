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7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B2733"/>
                </a:solidFill>
                <a:latin typeface="Calibri"/>
              </a:rPr>
              <a:t>Exit Category (822 recorded exits)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Exit 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263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35F-4D2F-8D85-00A8F92165D0}"/>
              </c:ext>
            </c:extLst>
          </c:dPt>
          <c:dPt>
            <c:idx val="1"/>
            <c:bubble3D val="0"/>
            <c:spPr>
              <a:solidFill>
                <a:srgbClr val="1F7A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35F-4D2F-8D85-00A8F92165D0}"/>
              </c:ext>
            </c:extLst>
          </c:dPt>
          <c:dPt>
            <c:idx val="2"/>
            <c:bubble3D val="0"/>
            <c:spPr>
              <a:solidFill>
                <a:srgbClr val="F2A54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35F-4D2F-8D85-00A8F92165D0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35F-4D2F-8D85-00A8F92165D0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35F-4D2F-8D85-00A8F92165D0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35F-4D2F-8D85-00A8F92165D0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Retirement</c:v>
                </c:pt>
                <c:pt idx="1">
                  <c:v>Resignation</c:v>
                </c:pt>
                <c:pt idx="2">
                  <c:v>Other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413</c:v>
                </c:pt>
                <c:pt idx="1">
                  <c:v>311</c:v>
                </c:pt>
                <c:pt idx="2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35F-4D2F-8D85-00A8F92165D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B27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Responses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Job dissatisfaction</c:v>
                </c:pt>
                <c:pt idx="1">
                  <c:v>Maternity/family</c:v>
                </c:pt>
                <c:pt idx="2">
                  <c:v>Relocation</c:v>
                </c:pt>
                <c:pt idx="3">
                  <c:v>Career move to private sector</c:v>
                </c:pt>
                <c:pt idx="4">
                  <c:v>Work-life balance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43</c:v>
                </c:pt>
                <c:pt idx="2">
                  <c:v>59</c:v>
                </c:pt>
                <c:pt idx="3">
                  <c:v>67</c:v>
                </c:pt>
                <c:pt idx="4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77-4FE3-93E3-C95C5F46F4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FC0-43ED-9151-21E6D8033D78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AFC0-43ED-9151-21E6D8033D78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AFC0-43ED-9151-21E6D8033D78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AFC0-43ED-9151-21E6D8033D78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AFC0-43ED-9151-21E6D8033D78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AFC0-43ED-9151-21E6D8033D78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AFC0-43ED-9151-21E6D8033D78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F-AFC0-43ED-9151-21E6D8033D78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1B27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Wellness Programs</c:v>
                </c:pt>
                <c:pt idx="1">
                  <c:v>Promotion Opportunities</c:v>
                </c:pt>
                <c:pt idx="2">
                  <c:v>Career Aspirations</c:v>
                </c:pt>
                <c:pt idx="3">
                  <c:v>Staff Morale</c:v>
                </c:pt>
                <c:pt idx="4">
                  <c:v>Professional Development</c:v>
                </c:pt>
                <c:pt idx="5">
                  <c:v>Skills</c:v>
                </c:pt>
                <c:pt idx="6">
                  <c:v>Initiative</c:v>
                </c:pt>
                <c:pt idx="7">
                  <c:v>Peer Support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3.22</c:v>
                </c:pt>
                <c:pt idx="1">
                  <c:v>3.35</c:v>
                </c:pt>
                <c:pt idx="2">
                  <c:v>3.38</c:v>
                </c:pt>
                <c:pt idx="3">
                  <c:v>3.39</c:v>
                </c:pt>
                <c:pt idx="4">
                  <c:v>3.83</c:v>
                </c:pt>
                <c:pt idx="5">
                  <c:v>3.84</c:v>
                </c:pt>
                <c:pt idx="6">
                  <c:v>3.99</c:v>
                </c:pt>
                <c:pt idx="7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FC0-43ED-9151-21E6D8033D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7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7111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097280"/>
            <a:ext cx="5486400" cy="5486400"/>
          </a:xfrm>
          <a:prstGeom prst="ellipse">
            <a:avLst/>
          </a:prstGeom>
          <a:solidFill>
            <a:srgbClr val="1F7A8C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3474720"/>
            <a:ext cx="4023360" cy="4023360"/>
          </a:xfrm>
          <a:prstGeom prst="ellipse">
            <a:avLst/>
          </a:prstGeom>
          <a:solidFill>
            <a:srgbClr val="F2A541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COMMUNICATION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64592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Exit Survey Analysis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2004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Employee Exit Patterns, Workplace Experience &amp; Retention Opportunities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2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Kunjeti Venkata Nanda Kumar</a:t>
            </a:r>
            <a:endParaRPr lang="en-US" sz="1200" dirty="0"/>
          </a:p>
          <a:p>
            <a:pPr marL="0" indent="0">
              <a:buNone/>
            </a:pPr>
            <a:r>
              <a:rPr lang="en-US" sz="14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 Cert. in Data Science &amp; AI  |  AnalytixLabs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1206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Government of Queensland, Australia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Education, Training, and Employment (DETE)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017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SITUATION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3375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department conducted an Employee Exit Survey to understand the experiences and reasons of employees leaving the organization.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035040" y="1280160"/>
            <a:ext cx="55778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0936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information matters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039112"/>
            <a:ext cx="274320" cy="274320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09360" y="2039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201168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employees resign or retire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2542032"/>
            <a:ext cx="274320" cy="274320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09360" y="25420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5146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workplace experience issues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309360" y="3044952"/>
            <a:ext cx="274320" cy="274320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09360" y="30449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0175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attraction and retention initiatives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3547872"/>
            <a:ext cx="274320" cy="274320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309360" y="35478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720840" y="352044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working practices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309360" y="4050792"/>
            <a:ext cx="274320" cy="274320"/>
          </a:xfrm>
          <a:prstGeom prst="ellipse">
            <a:avLst/>
          </a:prstGeom>
          <a:solidFill>
            <a:srgbClr val="1F7A8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09360" y="4050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720840" y="402336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the employee experience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" y="49377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5029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convert employee feedback into actionable workforce insights.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Survey Objectives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463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185416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records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1280160"/>
            <a:ext cx="2286000" cy="1645920"/>
          </a:xfrm>
          <a:prstGeom prst="roundRect">
            <a:avLst>
              <a:gd name="adj" fmla="val 4444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108960" y="14630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185416"/>
            <a:ext cx="21031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32004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covers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56616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&amp; employment information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for leaving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experience ratings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 information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0" y="1280160"/>
            <a:ext cx="594360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594360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Survey objectives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1965960"/>
            <a:ext cx="5394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factors influencing employee turnover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workplace satisfaction and morale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management, work-life balance and stress support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demographic patterns in employee exits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feedback to improve retention and working conditions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F7A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5257800"/>
            <a:ext cx="1975104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2523744" y="5257800"/>
            <a:ext cx="2971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2820924" y="525780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F7A8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820924" y="5257800"/>
            <a:ext cx="1975104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Feedback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96028" y="5257800"/>
            <a:ext cx="2971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5093208" y="525780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F7A8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93208" y="5257800"/>
            <a:ext cx="1975104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68312" y="5257800"/>
            <a:ext cx="2971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6" name="Shape 24"/>
          <p:cNvSpPr/>
          <p:nvPr/>
        </p:nvSpPr>
        <p:spPr>
          <a:xfrm>
            <a:off x="7365492" y="525780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1F7A8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365492" y="5257800"/>
            <a:ext cx="1975104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340596" y="5257800"/>
            <a:ext cx="2971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9637776" y="5257800"/>
            <a:ext cx="1975104" cy="777240"/>
          </a:xfrm>
          <a:prstGeom prst="roundRect">
            <a:avLst>
              <a:gd name="adj" fmla="val 9412"/>
            </a:avLst>
          </a:prstGeom>
          <a:solidFill>
            <a:srgbClr val="F2A54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637776" y="5257800"/>
            <a:ext cx="1975104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&amp; Workplace Actions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Insights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F7A8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Excel Data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764792" y="146304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56816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F7A8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956816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956816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172968" y="146304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364992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F7A8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364992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364992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581144" y="146304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73168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F7A8C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773168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773168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89320" y="146304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181344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181344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181344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397496" y="146304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589520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589520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589520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805672" y="146304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7"/>
          <p:cNvSpPr/>
          <p:nvPr/>
        </p:nvSpPr>
        <p:spPr>
          <a:xfrm>
            <a:off x="8997696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F2A54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997696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997696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213848" y="1463040"/>
            <a:ext cx="2103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10405872" y="1463040"/>
            <a:ext cx="1234440" cy="1188720"/>
          </a:xfrm>
          <a:prstGeom prst="roundRect">
            <a:avLst>
              <a:gd name="adj" fmla="val 6154"/>
            </a:avLst>
          </a:prstGeom>
          <a:solidFill>
            <a:srgbClr val="F2A54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10405872" y="15361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405872" y="1810512"/>
            <a:ext cx="123444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transformations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8640" y="356616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315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1325880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standardization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3355848" y="356616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538728" y="388620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538728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133088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Missing-value handling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163056" y="356616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345936" y="388620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345936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6940296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category classification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970264" y="356616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9153144" y="388620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153144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9747504" y="3657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score creation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48640" y="489204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1325880" y="4983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 level creation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355848" y="489204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538728" y="521208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3538728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4133088" y="4983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Tenure grouping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6163056" y="489204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345936" y="521208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345936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6940296" y="4983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reason analysis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8970264" y="4892040"/>
            <a:ext cx="262432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9153144" y="5212080"/>
            <a:ext cx="457200" cy="457200"/>
          </a:xfrm>
          <a:prstGeom prst="ellipse">
            <a:avLst/>
          </a:prstGeom>
          <a:solidFill>
            <a:srgbClr val="DCE9EE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9153144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9747504" y="4983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measures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19756"/>
            <a:ext cx="18288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Exit Records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1178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903220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311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2903220" y="2619756"/>
            <a:ext cx="18288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7492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166360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166360" y="2619756"/>
            <a:ext cx="18288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3806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429500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37.83%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7429500" y="2619756"/>
            <a:ext cx="18288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 Share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601200" y="146304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92640" y="1645920"/>
            <a:ext cx="1828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50.24%</a:t>
            </a:r>
            <a:endParaRPr lang="en-US" sz="4000" dirty="0"/>
          </a:p>
        </p:txBody>
      </p:sp>
      <p:sp>
        <p:nvSpPr>
          <p:cNvPr id="19" name="Text 17"/>
          <p:cNvSpPr txBox="1"/>
          <p:nvPr/>
        </p:nvSpPr>
        <p:spPr>
          <a:xfrm>
            <a:off x="9692640" y="2619756"/>
            <a:ext cx="1828800" cy="7360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Share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22960" y="4114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represents the largest recorded exit category, while resignations account for a substantial share of exits.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percentages are shares of recorded exits, not attrition rates, because total workforce headcount is not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 Exit Pattern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58521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6" name="Chart 0"/>
          <p:cNvGraphicFramePr/>
          <p:nvPr/>
        </p:nvGraphicFramePr>
        <p:xfrm>
          <a:off x="731520" y="1371600"/>
          <a:ext cx="54864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766560" y="128016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949440" y="12801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413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12801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766560" y="219456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949440" y="21945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311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1945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766560" y="3108960"/>
            <a:ext cx="48463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949440" y="3108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7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0" y="31089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766560" y="41148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7040880" y="4206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Retirement is the largest recorded exit category, followed by resignation.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521208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exits were particularly concentrated in 2022 and 2023.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Are Employees Resigning?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reported resignation reasons (number of responses)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7665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58368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680960" y="1554480"/>
            <a:ext cx="3931920" cy="3566160"/>
          </a:xfrm>
          <a:prstGeom prst="roundRect">
            <a:avLst>
              <a:gd name="adj" fmla="val 2051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955280" y="17373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2103120"/>
            <a:ext cx="33832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Work-life balance is the leading reported resignation reason, followed closely by private-sector career movement and relocation.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DCE9EE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Communication Insight:  </a:t>
            </a: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feedback highlights areas where management communication, career discussions and workplace support may need further attention.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Workplace Satisfaction Analysis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rating by factor (scale of 1–5)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69494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640080" y="1645920"/>
          <a:ext cx="676656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863840" y="155448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81381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Higher-rated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214884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Support (4.00)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Initiative (3.99)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863840" y="3886200"/>
            <a:ext cx="3749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138160" y="4023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7F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Lower-rated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4805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 (3.22)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Opportunities (3.35)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Aspirations (3.38)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for further investigation, not causal explanations.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Workforce &amp; Demographic Profile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69494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9050">
            <a:solidFill>
              <a:srgbClr val="1F7A8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548640" y="1280160"/>
            <a:ext cx="69494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Page 3</a:t>
            </a:r>
            <a:endParaRPr lang="en-US" sz="2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dashboard screenshot here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863840" y="128016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2263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863840" y="141732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499 of 822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2423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exits are employees aged 51+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863840" y="3749040"/>
            <a:ext cx="3749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092440" y="38221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shown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092440" y="41605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738360" y="416052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44805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738360" y="448056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Status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092440" y="4800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738360" y="4800600"/>
            <a:ext cx="1645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5303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visuals describe the recorded exit population and are not demographic-specific attrition rates because total workforce headcount is unavailable.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Retirement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 of 822 recorded exits were retirements.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280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5720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Work-Life Balance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resigning employees selected work-life balance.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128016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32104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011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Career Movement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selected career movement to the private sector.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2296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Wellness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Programs scored approximately 3.22/5.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97680" y="34747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7200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Tenure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of tenure represents a substantial share of recorded exits.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046720" y="3474720"/>
            <a:ext cx="35661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21040" y="3657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206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Older Age Groups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572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aged 51+ account for 499 of 822 recorded exits.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findings describe patterns in recorded exit-survey responses and should not be interpreted as causal relationships.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6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&amp; Action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Survey Analysis  |  DETE Queensland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 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Career Development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Establish clearer career paths &amp; internal mobility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Promotion satisfaction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Work-Life Balance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workload &amp; flexible-working options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Work-life balance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Wellbeing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 wellness &amp; stress-support initiatives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Wellness satisfaction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recognition &amp; feedback mechanisms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Recognition / morale 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226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Succession Planning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knowledge-transfer &amp; succession plans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3–6 months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roles with succession plans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371600"/>
            <a:ext cx="4572000" cy="4572000"/>
          </a:xfrm>
          <a:prstGeom prst="ellipse">
            <a:avLst/>
          </a:prstGeom>
          <a:solidFill>
            <a:srgbClr val="1F7A8C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CE9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provides a data-driven view of: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F7A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exit patterns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474720" y="19202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F7A8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Resignation drivers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17920" y="19202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F7A8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satisfaction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961120" y="19202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F7A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0" y="1920240"/>
            <a:ext cx="2560320" cy="10058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characteristics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3383280"/>
            <a:ext cx="106984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05840" y="3383280"/>
            <a:ext cx="10149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Communication Takeaway</a:t>
            </a:r>
            <a:endParaRPr lang="en-US" sz="1400" dirty="0"/>
          </a:p>
          <a:p>
            <a:pPr marL="0" indent="0">
              <a:buNone/>
            </a:pPr>
            <a:r>
              <a:rPr lang="en-US" sz="1800" dirty="0">
                <a:solidFill>
                  <a:srgbClr val="122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communication of employee feedback enables management to identify areas for investigation, prioritize HR initiatives, and monitor employee experience through measurable KPIs.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4406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810</Words>
  <Application>Microsoft Office PowerPoint</Application>
  <PresentationFormat>Widescreen</PresentationFormat>
  <Paragraphs>227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Exit Survey Analysis</dc:title>
  <dc:subject>PptxGenJS Presentation</dc:subject>
  <dc:creator>Kunjeti Venkata Nanda Kumar</dc:creator>
  <cp:lastModifiedBy>Kunjeti Venkata Nanda Kumar</cp:lastModifiedBy>
  <cp:revision>2</cp:revision>
  <dcterms:created xsi:type="dcterms:W3CDTF">2026-09-30T04:13:00Z</dcterms:created>
  <dcterms:modified xsi:type="dcterms:W3CDTF">2026-09-30T05:01:15Z</dcterms:modified>
</cp:coreProperties>
</file>